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1200" b="1">
                <a:solidFill>
                  <a:srgbClr val="38BDF8"/>
                </a:solidFill>
              </a:rPr>
              <a:t>B.TECH INTERNSHIP PROJECT  •  FULL-STACK &amp; AI SYSTEMS</a:t>
            </a:r>
          </a:p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F8FAFC"/>
                </a:solidFill>
              </a:rPr>
              <a:t>AI-Powered Enterprise IT Asset Management
&amp; Predictive Hardware Diagnostics</a:t>
            </a:r>
          </a:p>
          <a:p>
            <a:pPr algn="ctr">
              <a:spcAft>
                <a:spcPts val="2800"/>
              </a:spcAft>
            </a:pPr>
            <a:r>
              <a:rPr sz="1400">
                <a:solidFill>
                  <a:srgbClr val="94A3B8"/>
                </a:solidFill>
              </a:rPr>
              <a:t>Proactive Hardware Health Recalibration, Multilingual LLM Assistant &amp; Automated Enterprise Lifecycle System</a:t>
            </a:r>
          </a:p>
          <a:p>
            <a:pPr algn="ctr"/>
            <a:r>
              <a:rPr sz="1600" b="1">
                <a:solidFill>
                  <a:srgbClr val="34D399"/>
                </a:solidFill>
              </a:rPr>
              <a:t>Presented by: Tushar Mahapatra
</a:t>
            </a:r>
            <a:r>
              <a:rPr sz="1200">
                <a:solidFill>
                  <a:srgbClr val="94A3B8"/>
                </a:solidFill>
              </a:rPr>
              <a:t>Tech Stack: Node.js • Express • Google Gemini 1.5 Flash • Chart.js • Tesseract OCR • Nodemailer
Live Demo: Deployed on Vercel Serverless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1. Problem: Challenges in Contemporary IT Hardware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7185"/>
                </a:solidFill>
              </a:rPr>
              <a:t>[PAIN POINT 1] </a:t>
            </a:r>
            <a:r>
              <a:rPr sz="1700" b="1">
                <a:solidFill>
                  <a:srgbClr val="F8FAFC"/>
                </a:solidFill>
              </a:rPr>
              <a:t>Fragmented Record-Keeping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Spreadsheet Chaos: </a:t>
            </a:r>
            <a:r>
              <a:rPr b="0" sz="1300">
                <a:solidFill>
                  <a:srgbClr val="E2E8F0"/>
                </a:solidFill>
              </a:rPr>
              <a:t>Critical enterprise hardware tracked across disconnected Excel/Google Sheets.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Data Inconsistencies: </a:t>
            </a:r>
            <a:r>
              <a:rPr b="0" sz="1300">
                <a:solidFill>
                  <a:srgbClr val="E2E8F0"/>
                </a:solidFill>
              </a:rPr>
              <a:t>Duplicate serial numbers, missing employee assignments, and untracked peripherals.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Ghost Assets: </a:t>
            </a:r>
            <a:r>
              <a:rPr b="0" sz="1300">
                <a:solidFill>
                  <a:srgbClr val="E2E8F0"/>
                </a:solidFill>
              </a:rPr>
              <a:t>Laptops and servers remain on books even after disposal or unrecovered offboarding.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Manual Overhead: </a:t>
            </a:r>
            <a:r>
              <a:rPr b="0" sz="1300">
                <a:solidFill>
                  <a:srgbClr val="E2E8F0"/>
                </a:solidFill>
              </a:rPr>
              <a:t>IT admins spend up to 45 mins manually cataloging every new batch of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7185"/>
                </a:solidFill>
              </a:rPr>
              <a:t>[PAIN POINT 2] </a:t>
            </a:r>
            <a:r>
              <a:rPr sz="1700" b="1">
                <a:solidFill>
                  <a:srgbClr val="F8FAFC"/>
                </a:solidFill>
              </a:rPr>
              <a:t>Catastrophic Failures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Purely Reactive IT: </a:t>
            </a:r>
            <a:r>
              <a:rPr b="0" sz="1300">
                <a:solidFill>
                  <a:srgbClr val="E2E8F0"/>
                </a:solidFill>
              </a:rPr>
              <a:t>Zero advance warning before critical SSD, motherboard, or battery breakdown occurs.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Employee Work Disruption: </a:t>
            </a:r>
            <a:r>
              <a:rPr b="0" sz="1300">
                <a:solidFill>
                  <a:srgbClr val="E2E8F0"/>
                </a:solidFill>
              </a:rPr>
              <a:t>Sudden device failure stalls developer/executive productivity for 3–5 days.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Rush Procurement: </a:t>
            </a:r>
            <a:r>
              <a:rPr b="0" sz="1300">
                <a:solidFill>
                  <a:srgbClr val="E2E8F0"/>
                </a:solidFill>
              </a:rPr>
              <a:t>Forced emergency replacements at premium retail prices with no repair triage.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Zero RUL Visibility: </a:t>
            </a:r>
            <a:r>
              <a:rPr b="0" sz="1300">
                <a:solidFill>
                  <a:srgbClr val="E2E8F0"/>
                </a:solidFill>
              </a:rPr>
              <a:t>No scientific Remaining Useful Life (RUL) metrics computed for aging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7185"/>
                </a:solidFill>
              </a:rPr>
              <a:t>[PAIN POINT 3] </a:t>
            </a:r>
            <a:r>
              <a:rPr sz="1700" b="1">
                <a:solidFill>
                  <a:srgbClr val="F8FAFC"/>
                </a:solidFill>
              </a:rPr>
              <a:t>Manual Ingestion &amp; Triage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Tedious Paper Ingestion: </a:t>
            </a:r>
            <a:r>
              <a:rPr b="0" sz="1300">
                <a:solidFill>
                  <a:srgbClr val="E2E8F0"/>
                </a:solidFill>
              </a:rPr>
              <a:t>Manual typing of complex tax invoices, vendors, warranty terms, and MAC addresses.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Inconsistent Damage Triage: </a:t>
            </a:r>
            <a:r>
              <a:rPr b="0" sz="1300">
                <a:solidFill>
                  <a:srgbClr val="E2E8F0"/>
                </a:solidFill>
              </a:rPr>
              <a:t>Technicians lack standardized root-cause diagnostic guides for physical incidents.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Financial Leakage: </a:t>
            </a:r>
            <a:r>
              <a:rPr b="0" sz="1300">
                <a:solidFill>
                  <a:srgbClr val="E2E8F0"/>
                </a:solidFill>
              </a:rPr>
              <a:t>Missed OEM warranty claims and inaccurate depreciation book valuation.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No Audit Trail: </a:t>
            </a:r>
            <a:r>
              <a:rPr b="0" sz="1300">
                <a:solidFill>
                  <a:srgbClr val="E2E8F0"/>
                </a:solidFill>
              </a:rPr>
              <a:t>Absence of timestamped email/SMS acknowledgments for allocated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2. Why the Problem Matters: Impact on Cost, Security &amp; 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BF24"/>
                </a:solidFill>
              </a:rPr>
              <a:t>[CAPITAL DRAIN] </a:t>
            </a:r>
            <a:r>
              <a:rPr sz="1700" b="1">
                <a:solidFill>
                  <a:srgbClr val="F8FAFC"/>
                </a:solidFill>
              </a:rPr>
              <a:t>Severe Financial Leakage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Ghost Asset Carrying Cost: </a:t>
            </a:r>
            <a:r>
              <a:rPr b="0" sz="1300">
                <a:solidFill>
                  <a:srgbClr val="E2E8F0"/>
                </a:solidFill>
              </a:rPr>
              <a:t>Enterprises pay 15–20% excess in software licenses &amp; support on lost/untracked hardware.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Expired Warranty Losses: </a:t>
            </a:r>
            <a:r>
              <a:rPr b="0" sz="1300">
                <a:solidFill>
                  <a:srgbClr val="E2E8F0"/>
                </a:solidFill>
              </a:rPr>
              <a:t>Organizations pay full out-of-pocket OEM repair bills due to missed 30-day warranty expiry windows.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Inaccurate Balance Sheets: </a:t>
            </a:r>
            <a:r>
              <a:rPr b="0" sz="1300">
                <a:solidFill>
                  <a:srgbClr val="E2E8F0"/>
                </a:solidFill>
              </a:rPr>
              <a:t>Without automated Double-Declining depreciation, tax reporting and asset write-offs are flawed.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5544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373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BF24"/>
                </a:solidFill>
              </a:rPr>
              <a:t>[OPERATIONAL RISK] </a:t>
            </a:r>
            <a:r>
              <a:rPr sz="1700" b="1">
                <a:solidFill>
                  <a:srgbClr val="F8FAFC"/>
                </a:solidFill>
              </a:rPr>
              <a:t>Unplanned Downtime &amp; Productivity Loss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High Developer Idle Time: </a:t>
            </a:r>
            <a:r>
              <a:rPr b="0" sz="1300">
                <a:solidFill>
                  <a:srgbClr val="E2E8F0"/>
                </a:solidFill>
              </a:rPr>
              <a:t>Engineers lose 20+ billable hours waiting for replacement machine provisioning.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Client Deliverable Delays: </a:t>
            </a:r>
            <a:r>
              <a:rPr b="0" sz="1300">
                <a:solidFill>
                  <a:srgbClr val="E2E8F0"/>
                </a:solidFill>
              </a:rPr>
              <a:t>Critical hardware failures during sprints trigger missed SLAs and customer dissatisfaction.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IT Helpdesk Burnout: </a:t>
            </a:r>
            <a:r>
              <a:rPr b="0" sz="1300">
                <a:solidFill>
                  <a:srgbClr val="E2E8F0"/>
                </a:solidFill>
              </a:rPr>
              <a:t>Technicians are overwhelmed by firefighting emergency hardware tickets instead of strategic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7185"/>
                </a:solidFill>
              </a:rPr>
              <a:t>[SAFETY &amp; COMPLIANCE] </a:t>
            </a:r>
            <a:r>
              <a:rPr sz="1700" b="1">
                <a:solidFill>
                  <a:srgbClr val="F8FAFC"/>
                </a:solidFill>
              </a:rPr>
              <a:t>Safety Hazards &amp; Hardware Risks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Lithium Battery Swelling: </a:t>
            </a:r>
            <a:r>
              <a:rPr b="0" sz="1300">
                <a:solidFill>
                  <a:srgbClr val="E2E8F0"/>
                </a:solidFill>
              </a:rPr>
              <a:t>Unmonitored laptop batteries expand, posing thermal runaway, fire, and chassis cracking hazards.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Motherboard Short Circuits: </a:t>
            </a:r>
            <a:r>
              <a:rPr b="0" sz="1300">
                <a:solidFill>
                  <a:srgbClr val="E2E8F0"/>
                </a:solidFill>
              </a:rPr>
              <a:t>Unreported minor fluid ingress corrodes PMIC circuitry, turning fixable units into total write-offs.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Thermal Throttling: </a:t>
            </a:r>
            <a:r>
              <a:rPr b="0" sz="1300">
                <a:solidFill>
                  <a:srgbClr val="E2E8F0"/>
                </a:solidFill>
              </a:rPr>
              <a:t>Degraded thermal paste causes severe CPU degradation and hardware life halving.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690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42519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7185"/>
                </a:solidFill>
              </a:rPr>
              <a:t>[LEGAL &amp; SECURITY] </a:t>
            </a:r>
            <a:r>
              <a:rPr sz="1700" b="1">
                <a:solidFill>
                  <a:srgbClr val="F8FAFC"/>
                </a:solidFill>
              </a:rPr>
              <a:t>Corporate Compliance &amp; Audit Failures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Audit Discrepancies: </a:t>
            </a:r>
            <a:r>
              <a:rPr b="0" sz="1300">
                <a:solidFill>
                  <a:srgbClr val="E2E8F0"/>
                </a:solidFill>
              </a:rPr>
              <a:t>Failure to produce complete asset custodial logs during ISO/SOC2 enterprise audits.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Data Leakage Risk: </a:t>
            </a:r>
            <a:r>
              <a:rPr b="0" sz="1300">
                <a:solidFill>
                  <a:srgbClr val="E2E8F0"/>
                </a:solidFill>
              </a:rPr>
              <a:t>Unrecovered laptops during employee resignation leave corporate IP and customer data vulnerable.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Lack of Proof of Delivery: </a:t>
            </a:r>
            <a:r>
              <a:rPr b="0" sz="1300">
                <a:solidFill>
                  <a:srgbClr val="E2E8F0"/>
                </a:solidFill>
              </a:rPr>
              <a:t>Disputes between staff and HR regarding device receipt without timestamped notification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3. Proposed Solution: The Intelligent Asset Management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4D399"/>
                </a:solidFill>
              </a:rPr>
              <a:t>[PREDICTIVE CORE] </a:t>
            </a:r>
            <a:r>
              <a:rPr sz="1700" b="1">
                <a:solidFill>
                  <a:srgbClr val="F8FAFC"/>
                </a:solidFill>
              </a:rPr>
              <a:t>1. Proactive Predictive AI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Multi-Factor Health Modeling: </a:t>
            </a:r>
            <a:r>
              <a:rPr b="0" sz="1300">
                <a:solidFill>
                  <a:srgbClr val="E2E8F0"/>
                </a:solidFill>
              </a:rPr>
              <a:t>Dynamic 0–100% health score continuously computed based on age, category stress, and warranty.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Remaining Useful Life (RUL): </a:t>
            </a:r>
            <a:r>
              <a:rPr b="0" sz="1300">
                <a:solidFill>
                  <a:srgbClr val="E2E8F0"/>
                </a:solidFill>
              </a:rPr>
              <a:t>Accurate algorithmic forecasting of operational months remaining before EOL.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Failure Probability %: </a:t>
            </a:r>
            <a:r>
              <a:rPr b="0" sz="1300">
                <a:solidFill>
                  <a:srgbClr val="E2E8F0"/>
                </a:solidFill>
              </a:rPr>
              <a:t>Categorizes assets into Low, Moderate, High, and Critical risk tiers.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Actionable Directives: </a:t>
            </a:r>
            <a:r>
              <a:rPr b="0" sz="1300">
                <a:solidFill>
                  <a:srgbClr val="E2E8F0"/>
                </a:solidFill>
              </a:rPr>
              <a:t>Automated alerts for thermal repasting, battery recalibration, and preventive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</a:rPr>
              <a:t>[SMART DIAGNOSTICS] </a:t>
            </a:r>
            <a:r>
              <a:rPr sz="1700" b="1">
                <a:solidFill>
                  <a:srgbClr val="F8FAFC"/>
                </a:solidFill>
              </a:rPr>
              <a:t>2. Incident Triage &amp; Damage AI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Interactive Damage Reporting: </a:t>
            </a:r>
            <a:r>
              <a:rPr b="0" sz="1300">
                <a:solidFill>
                  <a:srgbClr val="E2E8F0"/>
                </a:solidFill>
              </a:rPr>
              <a:t>Standardized incident intake across Display, Power, Chassis, Ports, Fluid, and Storage.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Real-Time Recalibration: </a:t>
            </a:r>
            <a:r>
              <a:rPr b="0" sz="1300">
                <a:solidFill>
                  <a:srgbClr val="E2E8F0"/>
                </a:solidFill>
              </a:rPr>
              <a:t>Instant comparison of Prior vs. Post-Incident health scores (e.g. 85% -&gt; 52%).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Root Cause Mechanism: </a:t>
            </a:r>
            <a:r>
              <a:rPr b="0" sz="1300">
                <a:solidFill>
                  <a:srgbClr val="E2E8F0"/>
                </a:solidFill>
              </a:rPr>
              <a:t>AI identifies internal failure mechanisms (e.g., solder micro-fracture, PMIC overvoltage).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Safety &amp; Cost Estimation: </a:t>
            </a:r>
            <a:r>
              <a:rPr b="0" sz="1300">
                <a:solidFill>
                  <a:srgbClr val="E2E8F0"/>
                </a:solidFill>
              </a:rPr>
              <a:t>Identifies fire hazards and estimates OEM repair expenses in Indian Rupees (₹ INR).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818CF8"/>
                </a:solidFill>
              </a:rPr>
              <a:t>[AUTOMATION SUITE] </a:t>
            </a:r>
            <a:r>
              <a:rPr sz="1700" b="1">
                <a:solidFill>
                  <a:srgbClr val="F8FAFC"/>
                </a:solidFill>
              </a:rPr>
              <a:t>3. Zero-Friction Enterprise Ops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Invoice OCR Scanner: </a:t>
            </a:r>
            <a:r>
              <a:rPr b="0" sz="1300">
                <a:solidFill>
                  <a:srgbClr val="E2E8F0"/>
                </a:solidFill>
              </a:rPr>
              <a:t>Client-side Tesseract.js WASM engine extracts serial, vendor, and price directly from invoices.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Automated SMTP &amp; SMS: </a:t>
            </a:r>
            <a:r>
              <a:rPr b="0" sz="1300">
                <a:solidFill>
                  <a:srgbClr val="E2E8F0"/>
                </a:solidFill>
              </a:rPr>
              <a:t>1-click employee allocation dispatches professional transactional emails via Nodemailer.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AssetBot Bilingual LLM: </a:t>
            </a:r>
            <a:r>
              <a:rPr b="0" sz="1300">
                <a:solidFill>
                  <a:srgbClr val="E2E8F0"/>
                </a:solidFill>
              </a:rPr>
              <a:t>Bilingual (English/Hindi) assistant with strict guardrails backed by Gemini 1.5 Flash.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Audit-Ready PDF Exports: </a:t>
            </a:r>
            <a:r>
              <a:rPr b="0" sz="1300">
                <a:solidFill>
                  <a:srgbClr val="E2E8F0"/>
                </a:solidFill>
              </a:rPr>
              <a:t>One-click landscape PDF generation formatted with tables, badges, and financial depreciation.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4. How Your System Works: End-to-End Operational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</a:rPr>
              <a:t>[STEP 01] </a:t>
            </a:r>
            <a:r>
              <a:rPr sz="1700" b="1">
                <a:solidFill>
                  <a:srgbClr val="F8FAFC"/>
                </a:solidFill>
              </a:rPr>
              <a:t>Stage 1: Ingestion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Invoice Upload: </a:t>
            </a:r>
            <a:r>
              <a:rPr b="0" sz="1300">
                <a:solidFill>
                  <a:srgbClr val="E2E8F0"/>
                </a:solidFill>
              </a:rPr>
              <a:t>IT staff uploads hardware purchase invoice (PNG/JPG).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Client-side OCR: </a:t>
            </a:r>
            <a:r>
              <a:rPr b="0" sz="1300">
                <a:solidFill>
                  <a:srgbClr val="E2E8F0"/>
                </a:solidFill>
              </a:rPr>
              <a:t>Tesseract.js extracts serial numbers, pricing, and warranty dates.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Auto-Populate: </a:t>
            </a:r>
            <a:r>
              <a:rPr b="0" sz="1300">
                <a:solidFill>
                  <a:srgbClr val="E2E8F0"/>
                </a:solidFill>
              </a:rPr>
              <a:t>Asset master form pre-fills with zero manual typing.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Catalog Store: </a:t>
            </a:r>
            <a:r>
              <a:rPr b="0" sz="1300">
                <a:solidFill>
                  <a:srgbClr val="E2E8F0"/>
                </a:solidFill>
              </a:rPr>
              <a:t>Persisted in atomic DB with initial 100% health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818CF8"/>
                </a:solidFill>
              </a:rPr>
              <a:t>[STEP 02] </a:t>
            </a:r>
            <a:r>
              <a:rPr sz="1700" b="1">
                <a:solidFill>
                  <a:srgbClr val="F8FAFC"/>
                </a:solidFill>
              </a:rPr>
              <a:t>Stage 2: Allocation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Employee Matching: </a:t>
            </a:r>
            <a:r>
              <a:rPr b="0" sz="1300">
                <a:solidFill>
                  <a:srgbClr val="E2E8F0"/>
                </a:solidFill>
              </a:rPr>
              <a:t>Admin selects asset and assigns to employee (e.g., Aarav Sharma).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Specification Check: </a:t>
            </a:r>
            <a:r>
              <a:rPr b="0" sz="1300">
                <a:solidFill>
                  <a:srgbClr val="E2E8F0"/>
                </a:solidFill>
              </a:rPr>
              <a:t>Verifies department suitability and warranty status.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Instant SMTP Email: </a:t>
            </a:r>
            <a:r>
              <a:rPr b="0" sz="1300">
                <a:solidFill>
                  <a:srgbClr val="E2E8F0"/>
                </a:solidFill>
              </a:rPr>
              <a:t>Dispatches professional HTML confirmation notice.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Status Transition: </a:t>
            </a:r>
            <a:r>
              <a:rPr b="0" sz="1300">
                <a:solidFill>
                  <a:srgbClr val="E2E8F0"/>
                </a:solidFill>
              </a:rPr>
              <a:t>Status instantly updates from Available to Allocated.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4D399"/>
                </a:solidFill>
              </a:rPr>
              <a:t>[STEP 03] </a:t>
            </a:r>
            <a:r>
              <a:rPr sz="1700" b="1">
                <a:solidFill>
                  <a:srgbClr val="F8FAFC"/>
                </a:solidFill>
              </a:rPr>
              <a:t>Stage 3: Monitoring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Predictive Engine: </a:t>
            </a:r>
            <a:r>
              <a:rPr b="0" sz="1300">
                <a:solidFill>
                  <a:srgbClr val="E2E8F0"/>
                </a:solidFill>
              </a:rPr>
              <a:t>Evaluates wear factors, operating hours, and warranty days left.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Live Health Dashboard: </a:t>
            </a:r>
            <a:r>
              <a:rPr b="0" sz="1300">
                <a:solidFill>
                  <a:srgbClr val="E2E8F0"/>
                </a:solidFill>
              </a:rPr>
              <a:t>Interactive Chart.js visualizations track fleet degradation.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Warranty Alerting: </a:t>
            </a:r>
            <a:r>
              <a:rPr b="0" sz="1300">
                <a:solidFill>
                  <a:srgbClr val="E2E8F0"/>
                </a:solidFill>
              </a:rPr>
              <a:t>Flags assets expiring within 30 days or already expired.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DDB Depreciation: </a:t>
            </a:r>
            <a:r>
              <a:rPr b="0" sz="1300">
                <a:solidFill>
                  <a:srgbClr val="E2E8F0"/>
                </a:solidFill>
              </a:rPr>
              <a:t>Calculates monthly book value amortization in ₹ INR.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BF24"/>
                </a:solidFill>
              </a:rPr>
              <a:t>[STEP 04] </a:t>
            </a:r>
            <a:r>
              <a:rPr sz="1700" b="1">
                <a:solidFill>
                  <a:srgbClr val="F8FAFC"/>
                </a:solidFill>
              </a:rPr>
              <a:t>Stage 4: Triage &amp; Recal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Incident Intake: </a:t>
            </a:r>
            <a:r>
              <a:rPr b="0" sz="1300">
                <a:solidFill>
                  <a:srgbClr val="E2E8F0"/>
                </a:solidFill>
              </a:rPr>
              <a:t>User reports damage with category &amp; severity picker.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AI Diagnostics: </a:t>
            </a:r>
            <a:r>
              <a:rPr b="0" sz="1300">
                <a:solidFill>
                  <a:srgbClr val="E2E8F0"/>
                </a:solidFill>
              </a:rPr>
              <a:t>Diagnoses internal failure and computes new health score.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Safety Assessment: </a:t>
            </a:r>
            <a:r>
              <a:rPr b="0" sz="1300">
                <a:solidFill>
                  <a:srgbClr val="E2E8F0"/>
                </a:solidFill>
              </a:rPr>
              <a:t>Flags battery swelling or electrical short hazards.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OEM Repair Triage: </a:t>
            </a:r>
            <a:r>
              <a:rPr b="0" sz="1300">
                <a:solidFill>
                  <a:srgbClr val="E2E8F0"/>
                </a:solidFill>
              </a:rPr>
              <a:t>Recommends repair vs. scrap with local cost estimate.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5. AI &amp; Machine Learning Architecture: Hybrid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</a:rPr>
              <a:t>[CLOUD COGNITION] </a:t>
            </a:r>
            <a:r>
              <a:rPr sz="1700" b="1">
                <a:solidFill>
                  <a:srgbClr val="F8FAFC"/>
                </a:solidFill>
              </a:rPr>
              <a:t>Google Gemini 1.5 Flash (Cloud LLM)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Sub-Second Inference: </a:t>
            </a:r>
            <a:r>
              <a:rPr b="0" sz="1300">
                <a:solidFill>
                  <a:srgbClr val="E2E8F0"/>
                </a:solidFill>
              </a:rPr>
              <a:t>Processes complex multilingual user queries and unstructured hardware defect narratives.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Bilingual NLP Comprehension: </a:t>
            </a:r>
            <a:r>
              <a:rPr b="0" sz="1300">
                <a:solidFill>
                  <a:srgbClr val="E2E8F0"/>
                </a:solidFill>
              </a:rPr>
              <a:t>Native fluency in English, Hindi, and colloquial Hinglish (e.g., 'Kaunse laptops damaged hain?').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Strict Scope Guardrails: </a:t>
            </a:r>
            <a:r>
              <a:rPr b="0" sz="1300">
                <a:solidFill>
                  <a:srgbClr val="E2E8F0"/>
                </a:solidFill>
              </a:rPr>
              <a:t>Strict system instructions block off-topic prompts (sports, general coding) to ensure enterprise utility.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5544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373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4D399"/>
                </a:solidFill>
              </a:rPr>
              <a:t>[EDGE RESILIENCE] </a:t>
            </a:r>
            <a:r>
              <a:rPr sz="1700" b="1">
                <a:solidFill>
                  <a:srgbClr val="F8FAFC"/>
                </a:solidFill>
              </a:rPr>
              <a:t>Deterministic Offline Rule &amp; NLP Engine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Zero-Cost Fallback: </a:t>
            </a:r>
            <a:r>
              <a:rPr b="0" sz="1300">
                <a:solidFill>
                  <a:srgbClr val="E2E8F0"/>
                </a:solidFill>
              </a:rPr>
              <a:t>Automatically activates if internet is down or Gemini API key is missing—guaranteeing 100% uptime.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Regex &amp; Keyword Tokenizer: </a:t>
            </a:r>
            <a:r>
              <a:rPr b="0" sz="1300">
                <a:solidFill>
                  <a:srgbClr val="E2E8F0"/>
                </a:solidFill>
              </a:rPr>
              <a:t>Parses natural language requests for asset counts, employee allocations, and damaged devices.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Standardized Diagnostics: </a:t>
            </a:r>
            <a:r>
              <a:rPr b="0" sz="1300">
                <a:solidFill>
                  <a:srgbClr val="E2E8F0"/>
                </a:solidFill>
              </a:rPr>
              <a:t>Applies OEM engineering failure matrices for consistent, reproducible incident evaluations.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818CF8"/>
                </a:solidFill>
              </a:rPr>
              <a:t>[MATHEMATICAL ML] </a:t>
            </a:r>
            <a:r>
              <a:rPr sz="1700" b="1">
                <a:solidFill>
                  <a:srgbClr val="F8FAFC"/>
                </a:solidFill>
              </a:rPr>
              <a:t>Multi-Factor Predictive Health &amp; RUL Model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Non-Linear Aging Algorithm: </a:t>
            </a:r>
            <a:r>
              <a:rPr b="0" sz="1300">
                <a:solidFill>
                  <a:srgbClr val="E2E8F0"/>
                </a:solidFill>
              </a:rPr>
              <a:t>Calculates wear score combining Age Ratio (current age vs. expected lifecycle) &amp; Category Stress.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Incident Penalty Multipliers: </a:t>
            </a:r>
            <a:r>
              <a:rPr b="0" sz="1300">
                <a:solidFill>
                  <a:srgbClr val="E2E8F0"/>
                </a:solidFill>
              </a:rPr>
              <a:t>Deducts weighted health points based on past damage severity and recurrence frequency.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Remaining Useful Life (RUL): </a:t>
            </a:r>
            <a:r>
              <a:rPr b="0" sz="1300">
                <a:solidFill>
                  <a:srgbClr val="E2E8F0"/>
                </a:solidFill>
              </a:rPr>
              <a:t>RUL (months) = Expected Lifespan * (Health Score / 100) * Warranty Factor.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69080"/>
            <a:ext cx="5175504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4251960"/>
            <a:ext cx="4809744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BF24"/>
                </a:solidFill>
              </a:rPr>
              <a:t>[FINANCIAL ML] </a:t>
            </a:r>
            <a:r>
              <a:rPr sz="1700" b="1">
                <a:solidFill>
                  <a:srgbClr val="F8FAFC"/>
                </a:solidFill>
              </a:rPr>
              <a:t>Financial Depreciation Algorithms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Double-Declining Balance (DDB): </a:t>
            </a:r>
            <a:r>
              <a:rPr b="0" sz="1300">
                <a:solidFill>
                  <a:srgbClr val="E2E8F0"/>
                </a:solidFill>
              </a:rPr>
              <a:t>DDB Rate = (2 / Useful Life Years) applied to declining book value for realistic tech asset curves.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Straight-Line Benchmark: </a:t>
            </a:r>
            <a:r>
              <a:rPr b="0" sz="1300">
                <a:solidFill>
                  <a:srgbClr val="E2E8F0"/>
                </a:solidFill>
              </a:rPr>
              <a:t>Computes linear write-off comparison to assist corporate tax planning and salvage projections.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Fleet Valuation Forecaster: </a:t>
            </a:r>
            <a:r>
              <a:rPr b="0" sz="1300">
                <a:solidFill>
                  <a:srgbClr val="E2E8F0"/>
                </a:solidFill>
              </a:rPr>
              <a:t>Live aggregation of ₹21,35,000 total inventory value against current residual book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6. Technology Stack: Lightweight, Scalable &amp; Serverless-Ready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</a:rPr>
              <a:t>[BACKEND] </a:t>
            </a:r>
            <a:r>
              <a:rPr sz="1700" b="1">
                <a:solidFill>
                  <a:srgbClr val="F8FAFC"/>
                </a:solidFill>
              </a:rPr>
              <a:t>Backend &amp; APIs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Node.js (v18+): </a:t>
            </a:r>
            <a:r>
              <a:rPr b="0" sz="1300">
                <a:solidFill>
                  <a:srgbClr val="E2E8F0"/>
                </a:solidFill>
              </a:rPr>
              <a:t>High-concurrency asynchronous runtime.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Express.js v4: </a:t>
            </a:r>
            <a:r>
              <a:rPr b="0" sz="1300">
                <a:solidFill>
                  <a:srgbClr val="E2E8F0"/>
                </a:solidFill>
              </a:rPr>
              <a:t>RESTful routing, JSON parsers, and static asset middleware.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Nodemailer: </a:t>
            </a:r>
            <a:r>
              <a:rPr b="0" sz="1300">
                <a:solidFill>
                  <a:srgbClr val="E2E8F0"/>
                </a:solidFill>
              </a:rPr>
              <a:t>Enterprise SMTP transporter for automated allocation receipts.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Atomic DB (JSON): </a:t>
            </a:r>
            <a:r>
              <a:rPr b="0" sz="1300">
                <a:solidFill>
                  <a:srgbClr val="E2E8F0"/>
                </a:solidFill>
              </a:rPr>
              <a:t>Zero-configuration persistent storage ready for serverless.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818CF8"/>
                </a:solidFill>
              </a:rPr>
              <a:t>[FRONTEND] </a:t>
            </a:r>
            <a:r>
              <a:rPr sz="1700" b="1">
                <a:solidFill>
                  <a:srgbClr val="F8FAFC"/>
                </a:solidFill>
              </a:rPr>
              <a:t>Frontend &amp; UI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Vanilla ES6+ JS: </a:t>
            </a:r>
            <a:r>
              <a:rPr b="0" sz="1300">
                <a:solidFill>
                  <a:srgbClr val="E2E8F0"/>
                </a:solidFill>
              </a:rPr>
              <a:t>Ultra-fast DOM rendering with zero heavy framework bloat.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Glassmorphic CSS3: </a:t>
            </a:r>
            <a:r>
              <a:rPr b="0" sz="1300">
                <a:solidFill>
                  <a:srgbClr val="E2E8F0"/>
                </a:solidFill>
              </a:rPr>
              <a:t>Modern design tokens, responsive cards, and dark/light themes.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Responsive Grid: </a:t>
            </a:r>
            <a:r>
              <a:rPr b="0" sz="1300">
                <a:solidFill>
                  <a:srgbClr val="E2E8F0"/>
                </a:solidFill>
              </a:rPr>
              <a:t>Tailored for desktop laptops, tablets, and mobile field techs.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Zero Dependencies: </a:t>
            </a:r>
            <a:r>
              <a:rPr b="0" sz="1300">
                <a:solidFill>
                  <a:srgbClr val="E2E8F0"/>
                </a:solidFill>
              </a:rPr>
              <a:t>Instant sub-100ms client page load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4D399"/>
                </a:solidFill>
              </a:rPr>
              <a:t>[INTELLIGENCE] </a:t>
            </a:r>
            <a:r>
              <a:rPr sz="1700" b="1">
                <a:solidFill>
                  <a:srgbClr val="F8FAFC"/>
                </a:solidFill>
              </a:rPr>
              <a:t>AI &amp; Computer Vision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Google Gemini 1.5: </a:t>
            </a:r>
            <a:r>
              <a:rPr b="0" sz="1300">
                <a:solidFill>
                  <a:srgbClr val="E2E8F0"/>
                </a:solidFill>
              </a:rPr>
              <a:t>Cloud LLM for complex reasoning and natural dialogue.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Tesseract.js WASM: </a:t>
            </a:r>
            <a:r>
              <a:rPr b="0" sz="1300">
                <a:solidFill>
                  <a:srgbClr val="E2E8F0"/>
                </a:solidFill>
              </a:rPr>
              <a:t>Client-side OCR in web workers for instant invoice scanning.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Custom Heuristic ML: </a:t>
            </a:r>
            <a:r>
              <a:rPr b="0" sz="1300">
                <a:solidFill>
                  <a:srgbClr val="E2E8F0"/>
                </a:solidFill>
              </a:rPr>
              <a:t>Offline degradation models &amp; damage diagnostic engine.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Intent Parsers: </a:t>
            </a:r>
            <a:r>
              <a:rPr b="0" sz="1300">
                <a:solidFill>
                  <a:srgbClr val="E2E8F0"/>
                </a:solidFill>
              </a:rPr>
              <a:t>Rule-based bilingual NLP tokenizer.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BF24"/>
                </a:solidFill>
              </a:rPr>
              <a:t>[DEVOPS &amp; ANALYTICS] </a:t>
            </a:r>
            <a:r>
              <a:rPr sz="1700" b="1">
                <a:solidFill>
                  <a:srgbClr val="F8FAFC"/>
                </a:solidFill>
              </a:rPr>
              <a:t>Visualization &amp; DevOps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Chart.js v4: </a:t>
            </a:r>
            <a:r>
              <a:rPr b="0" sz="1300">
                <a:solidFill>
                  <a:srgbClr val="E2E8F0"/>
                </a:solidFill>
              </a:rPr>
              <a:t>Canvas-based live doughnut &amp; gradient degradation charts.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jsPDF + AutoTable: </a:t>
            </a:r>
            <a:r>
              <a:rPr b="0" sz="1300">
                <a:solidFill>
                  <a:srgbClr val="E2E8F0"/>
                </a:solidFill>
              </a:rPr>
              <a:t>Audit-grade landscape PDF report generator.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GitHub CI/CD: </a:t>
            </a:r>
            <a:r>
              <a:rPr b="0" sz="1300">
                <a:solidFill>
                  <a:srgbClr val="E2E8F0"/>
                </a:solidFill>
              </a:rPr>
              <a:t>Automated code synchronization and version control.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Vercel Hosting: </a:t>
            </a:r>
            <a:r>
              <a:rPr b="0" sz="1300">
                <a:solidFill>
                  <a:srgbClr val="E2E8F0"/>
                </a:solidFill>
              </a:rPr>
              <a:t>Zero-cost serverless cloud hosting with global edge CDN.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7. System Demo: Interactive User Interface &amp; AI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2514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512064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05079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Figure 1: Main Executive Dashboard &amp; Asset Inventory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212080" cy="251460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ml_damage_diagnostic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54480"/>
            <a:ext cx="512064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5352" y="405079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Figure 2: Real-Time AI Hardware Damage Recalibration &amp; Triage 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predictive_fleet_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5120640" cy="2103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51052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Figure 3: Multi-Factor Predictive Health &amp; RUL Degradation Gauges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429768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9_assetbot_ai_chat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4343400"/>
            <a:ext cx="512064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45352" y="651052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Figure 4: AssetBot Bilingual Conversational AI Assistant with Guardrails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8. Results &amp; Empirical Outcomes: Measurable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</a:rPr>
              <a:t>[EFFICIENCY] </a:t>
            </a:r>
            <a:r>
              <a:rPr sz="1700" b="1">
                <a:solidFill>
                  <a:srgbClr val="F8FAFC"/>
                </a:solidFill>
              </a:rPr>
              <a:t>90% Faster Ingestion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Client OCR Speed: </a:t>
            </a:r>
            <a:r>
              <a:rPr b="0" sz="1300">
                <a:solidFill>
                  <a:srgbClr val="E2E8F0"/>
                </a:solidFill>
              </a:rPr>
              <a:t>Reduces invoice entry from ~8 minutes manual typing to &lt;10 seconds automated OCR extraction.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High Field Accuracy: </a:t>
            </a:r>
            <a:r>
              <a:rPr b="0" sz="1300">
                <a:solidFill>
                  <a:srgbClr val="E2E8F0"/>
                </a:solidFill>
              </a:rPr>
              <a:t>Correctly extracts serial number, purchase price, vendor, and warranty dates.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Zero Typo Errors: </a:t>
            </a:r>
            <a:r>
              <a:rPr b="0" sz="1300">
                <a:solidFill>
                  <a:srgbClr val="E2E8F0"/>
                </a:solidFill>
              </a:rPr>
              <a:t>Eliminates duplicate or erroneous serial numbers on the company balance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4D399"/>
                </a:solidFill>
              </a:rPr>
              <a:t>[RELIABILITY] </a:t>
            </a:r>
            <a:r>
              <a:rPr sz="1700" b="1">
                <a:solidFill>
                  <a:srgbClr val="F8FAFC"/>
                </a:solidFill>
              </a:rPr>
              <a:t>100% System Uptime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Hybrid Resiliency: </a:t>
            </a:r>
            <a:r>
              <a:rPr b="0" sz="1300">
                <a:solidFill>
                  <a:srgbClr val="E2E8F0"/>
                </a:solidFill>
              </a:rPr>
              <a:t>Zero downtime during internet disconnects or API rate limits via local offline rule engine fallback.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Sub-150ms Response: </a:t>
            </a:r>
            <a:r>
              <a:rPr b="0" sz="1300">
                <a:solidFill>
                  <a:srgbClr val="E2E8F0"/>
                </a:solidFill>
              </a:rPr>
              <a:t>Instant local heuristic calculations for health scores, depreciation, and allocations.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Zero Cloud Cost: </a:t>
            </a:r>
            <a:r>
              <a:rPr b="0" sz="1300">
                <a:solidFill>
                  <a:srgbClr val="E2E8F0"/>
                </a:solidFill>
              </a:rPr>
              <a:t>Runs efficiently on free serverless cloud tiers with zero continuous billing.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BBF24"/>
                </a:solidFill>
              </a:rPr>
              <a:t>[DIAGNOSTICS] </a:t>
            </a:r>
            <a:r>
              <a:rPr sz="1700" b="1">
                <a:solidFill>
                  <a:srgbClr val="F8FAFC"/>
                </a:solidFill>
              </a:rPr>
              <a:t>Proactive Triage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Instant Diagnostics: </a:t>
            </a:r>
            <a:r>
              <a:rPr b="0" sz="1300">
                <a:solidFill>
                  <a:srgbClr val="E2E8F0"/>
                </a:solidFill>
              </a:rPr>
              <a:t>Recalibrates health score immediately upon defect submission with internal mechanism analysis.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Safety Protection: </a:t>
            </a:r>
            <a:r>
              <a:rPr b="0" sz="1300">
                <a:solidFill>
                  <a:srgbClr val="E2E8F0"/>
                </a:solidFill>
              </a:rPr>
              <a:t>100% of swelling battery and thermal short risks flagged before hardware burns out.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Cost Estimation: </a:t>
            </a:r>
            <a:r>
              <a:rPr b="0" sz="1300">
                <a:solidFill>
                  <a:srgbClr val="E2E8F0"/>
                </a:solidFill>
              </a:rPr>
              <a:t>Provides repair estimates in ₹ INR to prevent vendor overcharging.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37360"/>
            <a:ext cx="2103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818CF8"/>
                </a:solidFill>
              </a:rPr>
              <a:t>[SCALE] </a:t>
            </a:r>
            <a:r>
              <a:rPr sz="1700" b="1">
                <a:solidFill>
                  <a:srgbClr val="F8FAFC"/>
                </a:solidFill>
              </a:rPr>
              <a:t>Enterprise Ready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Real Indian Fleet: </a:t>
            </a:r>
            <a:r>
              <a:rPr b="0" sz="1300">
                <a:solidFill>
                  <a:srgbClr val="E2E8F0"/>
                </a:solidFill>
              </a:rPr>
              <a:t>20 active high-end devices and 16 employee allocations across Bengaluru, Mumbai, Pune, Delhi.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Full Audit Trail: </a:t>
            </a:r>
            <a:r>
              <a:rPr b="0" sz="1300">
                <a:solidFill>
                  <a:srgbClr val="E2E8F0"/>
                </a:solidFill>
              </a:rPr>
              <a:t>Complete historical logs of damage, email dispatches, and device return receipts.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Landscape PDF Export: </a:t>
            </a:r>
            <a:r>
              <a:rPr b="0" sz="1300">
                <a:solidFill>
                  <a:srgbClr val="E2E8F0"/>
                </a:solidFill>
              </a:rPr>
              <a:t>Executive audit reports generated with single click formatted for management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9. Benefits: Enterprise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4D399"/>
                </a:solidFill>
              </a:rPr>
              <a:t>[FINANCIAL ROI] </a:t>
            </a:r>
            <a:r>
              <a:rPr sz="1700" b="1">
                <a:solidFill>
                  <a:srgbClr val="F8FAFC"/>
                </a:solidFill>
              </a:rPr>
              <a:t>Financial Benefits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Eliminates Ghost Assets: </a:t>
            </a:r>
            <a:r>
              <a:rPr b="0" sz="1300">
                <a:solidFill>
                  <a:srgbClr val="E2E8F0"/>
                </a:solidFill>
              </a:rPr>
              <a:t>Stops paying unnecessary software licenses and asset tax on retired machines (~15% savings).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Maximizes Warranty Value: </a:t>
            </a:r>
            <a:r>
              <a:rPr b="0" sz="1300">
                <a:solidFill>
                  <a:srgbClr val="E2E8F0"/>
                </a:solidFill>
              </a:rPr>
              <a:t>Alerts admins 30 days before warranty expiry to claim free OEM repairs before expiration.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Optimized Capex Budgeting: </a:t>
            </a:r>
            <a:r>
              <a:rPr b="0" sz="1300">
                <a:solidFill>
                  <a:srgbClr val="E2E8F0"/>
                </a:solidFill>
              </a:rPr>
              <a:t>Double-declining depreciation provides accurate future hardware replacement capital requirements.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Prevents Overcharging: </a:t>
            </a:r>
            <a:r>
              <a:rPr b="0" sz="1300">
                <a:solidFill>
                  <a:srgbClr val="E2E8F0"/>
                </a:solidFill>
              </a:rPr>
              <a:t>AI repair cost benchmarking protects against inflated vendor servicing quotes.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</a:rPr>
              <a:t>[OPERATIONAL EXCELLENCE] </a:t>
            </a:r>
            <a:r>
              <a:rPr sz="1700" b="1">
                <a:solidFill>
                  <a:srgbClr val="F8FAFC"/>
                </a:solidFill>
              </a:rPr>
              <a:t>Operational Benefits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Zero Emergency Disruptions: </a:t>
            </a:r>
            <a:r>
              <a:rPr b="0" sz="1300">
                <a:solidFill>
                  <a:srgbClr val="E2E8F0"/>
                </a:solidFill>
              </a:rPr>
              <a:t>Predictive RUL allows scheduling laptop replacements weeks before catastrophic breakdown.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1-Click Automated Workflows: </a:t>
            </a:r>
            <a:r>
              <a:rPr b="0" sz="1300">
                <a:solidFill>
                  <a:srgbClr val="E2E8F0"/>
                </a:solidFill>
              </a:rPr>
              <a:t>Instant employee assignment accompanied by professional transactional HTML emails.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Standardized Defect Triage: </a:t>
            </a:r>
            <a:r>
              <a:rPr b="0" sz="1300">
                <a:solidFill>
                  <a:srgbClr val="E2E8F0"/>
                </a:solidFill>
              </a:rPr>
              <a:t>Junior technicians get expert-level diagnostic guidance and safety hazard flags.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Bilingual Voice &amp; Text AI: </a:t>
            </a:r>
            <a:r>
              <a:rPr b="0" sz="1300">
                <a:solidFill>
                  <a:srgbClr val="E2E8F0"/>
                </a:solidFill>
              </a:rPr>
              <a:t>Non-technical managers can query fleet status in natural Hindi or English anytime.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818CF8"/>
                </a:solidFill>
              </a:rPr>
              <a:t>[GOVERNANCE &amp; SAFETY] </a:t>
            </a:r>
            <a:r>
              <a:rPr sz="1700" b="1">
                <a:solidFill>
                  <a:srgbClr val="F8FAFC"/>
                </a:solidFill>
              </a:rPr>
              <a:t>Security &amp; Compliance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Full Custodial Accountability: </a:t>
            </a:r>
            <a:r>
              <a:rPr b="0" sz="1300">
                <a:solidFill>
                  <a:srgbClr val="E2E8F0"/>
                </a:solidFill>
              </a:rPr>
              <a:t>Exact timestamped record of which employee holds which asset serial and MAC address.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Offboarding Security: </a:t>
            </a:r>
            <a:r>
              <a:rPr b="0" sz="1300">
                <a:solidFill>
                  <a:srgbClr val="E2E8F0"/>
                </a:solidFill>
              </a:rPr>
              <a:t>Guarantees company-owned devices and sensitive data are recovered upon employee resignation.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Audit-Grade Reporting: </a:t>
            </a:r>
            <a:r>
              <a:rPr b="0" sz="1300">
                <a:solidFill>
                  <a:srgbClr val="E2E8F0"/>
                </a:solidFill>
              </a:rPr>
              <a:t>Instant PDF reports with table grids ready for ISO 27001, SOC 2, and financial auditors.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Workplace Safety: </a:t>
            </a:r>
            <a:r>
              <a:rPr b="0" sz="1300">
                <a:solidFill>
                  <a:srgbClr val="E2E8F0"/>
                </a:solidFill>
              </a:rPr>
              <a:t>Isolates expanding lithium batteries and shorted chargers to protect employee physical safety.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IT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10. Future Scope &amp; Roadmap: Next Horizons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8BDF8"/>
                </a:solidFill>
              </a:rPr>
              <a:t>[HARDWARE TAGGING] </a:t>
            </a:r>
            <a:r>
              <a:rPr sz="1700" b="1">
                <a:solidFill>
                  <a:srgbClr val="F8FAFC"/>
                </a:solidFill>
              </a:rPr>
              <a:t>1. Mobile QR / Barcode App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Physical Equipment Tagging: </a:t>
            </a:r>
            <a:r>
              <a:rPr b="0" sz="1300">
                <a:solidFill>
                  <a:srgbClr val="E2E8F0"/>
                </a:solidFill>
              </a:rPr>
              <a:t>Auto-generate dynamic 2D QR codes and barcodes for all physical hardware chassis.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Mobile Camera Scanner: </a:t>
            </a:r>
            <a:r>
              <a:rPr b="0" sz="1300">
                <a:solidFill>
                  <a:srgbClr val="E2E8F0"/>
                </a:solidFill>
              </a:rPr>
              <a:t>PWA mobile scanner for IT warehouse staff to audit 100+ physical assets in minutes.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Instant Check-in / Check-out: </a:t>
            </a:r>
            <a:r>
              <a:rPr b="0" sz="1300">
                <a:solidFill>
                  <a:srgbClr val="E2E8F0"/>
                </a:solidFill>
              </a:rPr>
              <a:t>Employees scan QR code with smartphone to acknowledge physical pickup or return.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Physical Audit Verification: </a:t>
            </a:r>
            <a:r>
              <a:rPr b="0" sz="1300">
                <a:solidFill>
                  <a:srgbClr val="E2E8F0"/>
                </a:solidFill>
              </a:rPr>
              <a:t>Geotagged physical inventory audits to eliminate location mismatches.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34D399"/>
                </a:solidFill>
              </a:rPr>
              <a:t>[IOT TELEMETRY] </a:t>
            </a:r>
            <a:r>
              <a:rPr sz="1700" b="1">
                <a:solidFill>
                  <a:srgbClr val="F8FAFC"/>
                </a:solidFill>
              </a:rPr>
              <a:t>2. Live Hardware Telemetry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OS Background Agent: </a:t>
            </a:r>
            <a:r>
              <a:rPr b="0" sz="1300">
                <a:solidFill>
                  <a:srgbClr val="E2E8F0"/>
                </a:solidFill>
              </a:rPr>
              <a:t>Lightweight daemon for Windows, macOS, and Linux streaming live diagnostic telemetry.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Battery Health Telemetry: </a:t>
            </a:r>
            <a:r>
              <a:rPr b="0" sz="1300">
                <a:solidFill>
                  <a:srgbClr val="E2E8F0"/>
                </a:solidFill>
              </a:rPr>
              <a:t>Real-time battery cycle count, design capacity degradation, and temperature monitoring.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SSD SMART Health: </a:t>
            </a:r>
            <a:r>
              <a:rPr b="0" sz="1300">
                <a:solidFill>
                  <a:srgbClr val="E2E8F0"/>
                </a:solidFill>
              </a:rPr>
              <a:t>Proactive alerts on SSD bad sectors, reallocated blocks, and high operating temperatures.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Thermal Profiling: </a:t>
            </a:r>
            <a:r>
              <a:rPr b="0" sz="1300">
                <a:solidFill>
                  <a:srgbClr val="E2E8F0"/>
                </a:solidFill>
              </a:rPr>
              <a:t>Flags CPU throttling to trigger fan cleaning and thermal paste reapplication.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818CF8"/>
                </a:solidFill>
              </a:rPr>
              <a:t>[ENTERPRISE INTEGRATION] </a:t>
            </a:r>
            <a:r>
              <a:rPr sz="1700" b="1">
                <a:solidFill>
                  <a:srgbClr val="F8FAFC"/>
                </a:solidFill>
              </a:rPr>
              <a:t>3. Enterprise RBAC &amp; ERP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Role-Based Access Control: </a:t>
            </a:r>
            <a:r>
              <a:rPr b="0" sz="1300">
                <a:solidFill>
                  <a:srgbClr val="E2E8F0"/>
                </a:solidFill>
              </a:rPr>
              <a:t>JWT authentication with Granular Roles (Super Admin, IT Tech, HR Manager, Employee, Auditor).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HRMS Integration: </a:t>
            </a:r>
            <a:r>
              <a:rPr b="0" sz="1300">
                <a:solidFill>
                  <a:srgbClr val="E2E8F0"/>
                </a:solidFill>
              </a:rPr>
              <a:t>Native webhooks syncing with Workday, BambooHR, and SAP SuccessFactors for automated offboarding.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ITSM Integration: </a:t>
            </a:r>
            <a:r>
              <a:rPr b="0" sz="1300">
                <a:solidFill>
                  <a:srgbClr val="E2E8F0"/>
                </a:solidFill>
              </a:rPr>
              <a:t>Direct integration with Jira Service Management and ServiceNow for automatic ticket creation.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• Procurement Workflow: </a:t>
            </a:r>
            <a:r>
              <a:rPr b="0" sz="1300">
                <a:solidFill>
                  <a:srgbClr val="E2E8F0"/>
                </a:solidFill>
              </a:rPr>
              <a:t>Multi-stage purchase request approvals with automated vendor purchase order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>
                <a:solidFill>
                  <a:srgbClr val="38BDF8"/>
                </a:solidFill>
              </a:rPr>
              <a:t>CONCLUSION &amp; DEMO SUMMARY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8FAFC"/>
                </a:solidFill>
              </a:rPr>
              <a:t>AI-Driven Lifecycle Tracking Redefining IT Operations</a:t>
            </a:r>
          </a:p>
          <a:p>
            <a:pPr algn="ctr">
              <a:spcAft>
                <a:spcPts val="2800"/>
              </a:spcAft>
            </a:pPr>
            <a:r>
              <a:rPr sz="1400">
                <a:solidFill>
                  <a:srgbClr val="E2E8F0"/>
                </a:solidFill>
              </a:rPr>
              <a:t>A production-tested synthesis of Full-Stack Web Architecture, Predictive Hardware Degradation Models, and Generative AI—built to eliminate downtime and prevent enterprise hardware capital leakage.</a:t>
            </a:r>
          </a:p>
          <a:p>
            <a:pPr algn="ctr"/>
            <a:r>
              <a:rPr sz="1300">
                <a:solidFill>
                  <a:srgbClr val="38BDF8"/>
                </a:solidFill>
              </a:rPr>
              <a:t>GitHub Repository: https://github.com/tusharmahapatra1234-ship-it/-IT-Asset-Management
</a:t>
            </a:r>
            <a:r>
              <a:rPr sz="1500" b="1">
                <a:solidFill>
                  <a:srgbClr val="34D399"/>
                </a:solidFill>
              </a:rPr>
              <a:t>Developer: Tushar Mahapatra  •  Open for Questions &amp; Viva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